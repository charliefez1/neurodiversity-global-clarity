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Before anything else: thank you for being here. That alone says something important about you as a parent.
This session is two hours. We cover a lot. Some of it is hard to hear. All of it is things you deserve to know.
Introduce yourself briefly. State clearly: this is not a session about managing your child. It is a session about understanding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minutes here. Ask who is already exhausted by the system. Most hands will go up. Acknowledge it directly: you are in a room full of people who are fighting the same battles. That matters.
Do not rush to the content. The relationship between you and the room is doing work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normalise the room. These are not unusual children. This is not a small problem.
The phrase 'more than one profile' is important. Many parents have spent years getting one diagnosis, then fighting for the next. Tell them: the system is not designed for complexity. Their child is complex. That is the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of everything else. Spend time here.
The key phrase is 'verbal reasoning is not available'. Parents often say: I tried to talk to him and he just wouldn't listen. He was not choosing not to listen. The part of the brain that processes language and logic was offline.
Ask: how many of you have had a conversation with your child in the middle of a meltdown that made things worse? Almost everyone. That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lands hardest with parents who have been told their child 'isn't trying'.
The battery metaphor is concrete. Everyone understands a phone running out of charge.
Say it slowly: eighty percent of their capacity is going on staying in the room. On not fidgeting. On not humming. On looking like they are paying attention. By the time they sit down, there is nothing left for the lesson.
Then ask: what does that child look like by the time they get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of these slowly. Pause between them.
These three lines reframe everything. Parents will remember them when nothing else from the session sticks.
Follow with: 'They are not choosing between behaving and learning. They are choosing between looking like they are learning and actually learning. They cannot do both at the same time.'
If you have time, ask parents to think about what their child does at home that they have told them to stop. Often it is a regulation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the reframe. The right column is the diagnostic tool parents can use in the moment.
The last question on the right is the most important and the hardest. Parents' nervous systems are often dysregulated at the same time as their child's. Two dysregulated nervous systems escalate each other.
Do not lecture on this. State it plainly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government data and peer-reviewed research. They are not from advocacy organisations.
The 92% figure is the one that stops people. State it clearly: 92% of children who cannot cope with school are neurodivergent. This is not coincidence. This is design failure.
Pause after the statistics. Give people a moment to sit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collapse is the phrase that unlocks something for most parents in the room. They have been told their child is fine at school. They know their child is not fine at home. They have been made to feel the problem is their parenting.
Explain the mechanism clearly: the child has spent all day holding it together in an environment that costs them enormously. Home is safe. Home is where they can stop performing. The collapse at home is evidence that school is the problem, not that home is.
This is often emotional for parents.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parents in the room will not have a full picture of what their child is entitled to without a diagnosis. This slide is practically important.
The phrase to repeat: schools must respond to need, not labels. Most schools act as though a diagnosis is required before they are obligated to do anything. That is legally incorrect.
Give parents the language: 'Under the SEND Code of Practice, what is the current plan to support my child while we wait for assessment?'
Write it on the slide if possible, or say it slowly enough that people can note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sit.
This reframe works because it removes the argument. Special treatment implies unfairness. Accessibility is different. Everyone gets what they need to access the same outcome.
The glasses line particularly lands with grandparents and school staff when parents take it back to those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dopamine section reframes a huge amount of adolescent behaviour that parents find terrifying.
Establish the mechanism first: the brain is not getting enough steady dopamine signal. It searches for hits. In childhood that looks like chaos. In adolescence it looks like risk.
The important thing to say: this is not bad character. This is the same neurological architecture that makes their child unstoppably creative or brave or passionate. The two are inseparable.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practical slides in the session.
Parents need to hear this before it happens, not after. Many families experience the Year 7 transition as catastrophic and have no framework for why.
The phrase 'coping strategies collapsed' is important. The child was always neurodivergent. The environment changed and the scaffolding they had built — masking, scripting, routine — no longer works at the pace and complexity of secondary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will make some parents uncomfortable. That is the point.
Say clearly: I am not listing these to frighten you. I am listing them because they are what happens when dopamine-seeking meets adolescent freedom and no one has given the young person a framework.
The right column is the important one. The cycle of shame and increased need is the thing to name. Most disciplinary responses to this behaviour increase shame. That increases the pressure that produces the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often want simple guidance on screens. Give them the nuance first.
The design point matters: the companies that built these platforms know exactly what they are doing. This is not about your child lacking willpower. It is about a multi-billion pound industry optimising for the specific neurological vulnerability your child has.
The last bullet is important. For many isolated neurodivergent young people, online communities are the first place they have ever felt understood. That has value. The goal is balance, not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this section. Say it directly: we are going into territory that most workshops avoid. I am not going to avoid it because you are living it or you are worried about living it, and you deserve the information.
Ask if anyone needs a moment. Check if anyone wants to step out. Have water available. This is the hardest twenty minutes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needs to be delivered without rush.
The key message: the function is regulation, not attention seeking and not suicidal intent. Understanding the function changes the response entirely.
The disclosure point is critical. Say it clearly: the most damaging thing you can do when a child discloses self-harm is panic, interrogate, and restrict. That is what tells them not to tell you again. Calm, close, and connected is the right response. Then get appropriate support.
Acknowledge that some parents in the room are already living this. Do not move too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statistics plainly. Do not soften them.
Then say: these outcomes are not caused by being neurodivergent. They are caused by what we ask neurodivergent children to do — to mask, to comply, to perform — for years, without support, in environments that do not fit them. That is preventable.
The pathway is: mask to survive, exhaust yourself, lose yourself, feel trapped, consider ending it. Every stage of that pathway has an intervention point.
Parents who are living with this fear need to hear that this is real, that they are not catastrophising, and that early understanding changes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Sieff Foundation pathway, documented independently with data at every stage.
Do not deliver this as doom. Deliver it as a map. Maps tell you where you are and what the routes are.
The intervention points: early identification, one trusted adult who genuinely sees the child, appropriate school support, not criminalising distress, mental health services that arrive when needed.
Parents in this room are already providing one of those — a parent who understands is one of the most powerful protective factors in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material most likely to be absent from any other workshop parents have attended.
The key point: the vulnerability is not stupidity or naivety. It is a specific combination of factors — difficulty reading intentions, social hunger, history of having their judgment overridden, desire for belonging — that is being actively exploited.
Give parents concrete language: the safety conversation with a neurodivergent child cannot be euphemistic. It needs to be explicit. What does a safe relationship feel like in the body, not just look like on the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parents permission to stop trying to convince people who are not ready to be convinced.
The energy that goes into managing family disbelief is energy not available for the child. Some of those battles are not worth fighting.
The intergenerational point is worth pausing on. The grandparent who dismissed their own child's difficulties, who absorbed them as character flaws rather than neurodivergence, who is now watching their grandchild diagnosed with something they never had a name for — that person is dealing with something complex. That does not make their dismissal acceptable. It does make it understandable.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land without commentary first.
Then say: the breakdown is not primarily caused by one person being right and the other wrong. It is caused by two people carrying an enormous load without the same tools, the same information, or the same relationship with the system.
The asymmetry is important. Mothers carry the information load, the advocacy load, the emotional labour, and the daily management. Fathers are less likely to be offered support and more likely to disengage quietly. That asymmetry is not always about willingness. It is often about a system that defaults to mothers.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peer support point at the bottom of the right column is worth emphasising.
The reason peer support works is not that other parents have better advice. It is that they do not require explanation. You do not have to justify why this is hard. You are simply already understood.
If there is a local parent group or online community, mention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carry guilt about this largely in silence. Naming it gives them permission to acknowledge it without it becoming another thing they are failing at.
The key message: noticing is not the same as solving. You do not have to fix the sibling situation. You have to be aware of it and make small, consistent gestures.
The sibling who is managing quietly is often the child most at risk of being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slowly. Let it sit.
Then say: this person was talking to Parliament. With evidence. With documentation. And they still were not believed.
Ask: how many people in this room have felt that? Most hands.
That is the room you are in. You are not alone in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Ask the room: which of these is yours? You do not have to say it out loud.
The point is not to solve any of these in the next hour. The point is to name them. Many parents have been carrying these fears without ever hearing them said in a room by someone else.
Being named reduces shame. Reduced shame makes every other intervention more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reframe of everything that came before it.
The standard offer to parents of neurodivergent children is: parenting courses, self-care advice, waiting lists, and occasional professionals who treat them as the problem.
None of that addresses what parents actually need. Name that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practical tools that work across profiles. They are not complex.
The most important one is decompression time after school. It is not negotiable. The child who goes from school to homework to activities with no time to decompress is building load every day. That load has to go somewhere.
Repair after rupture is the other one to emphasise. The relationship is the intervention. Every repair builds trust. Trust is what makes everything else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these slowly. These are things parents can use next week.
The 'provision' vs 'support' distinction matters legally. 'Support' implies goodwill. 'Provision' implies obligation.
The written log is the most important single tool. It creates a paper trail that exists when you challenge decisions. It also surfaces patterns that are invisible day to day.
Script to offer: 'Under the SEND Code of Practice, can you explain in writing why this adjustment is not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this.
Parents in this room often have a very high bar for what good looks like — full inclusion, a thriving social life, university, independence. Those are not wrong aspirations. But they can become the enemy of enough.
What the evidence actually shows protects long-term outcomes: one trusted adult, a stable sense of identity, and enough connection to the world to keep going.
That is something every parent in this room can influence. Today. Starting with knowing what they know after two hours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information parents need right now.
Be direct about the rights reduction. Do not soften it. ISP holders will not be able to take the local authority to tribunal. That is a significant removal of the most effective lever parents currently have.
The consultation deadline is May 18. Give people the email address and encourage them to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slowly.
Do not rush the last line. Let it land.
Then give people two minutes of silence. Do not fill it. They need to sit with it.
Open for questions. Have the consultation email address ready. Have the SEND Navigator URL on screen.
Remind people: the information they now have is the most powerful tool they have. Knowledge does not fix the system. But it changes what you can ask for, what you can insist on, and what your child experiences because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6F"/>
          </a:solidFill>
          <a:ln w="12700">
            <a:solidFill>
              <a:srgbClr val="0D7A6F"/>
            </a:solidFill>
            <a:prstDash val="solid"/>
          </a:ln>
        </p:spPr>
      </p:sp>
      <p:sp>
        <p:nvSpPr>
          <p:cNvPr id="3" name="Text 1"/>
          <p:cNvSpPr/>
          <p:nvPr/>
        </p:nvSpPr>
        <p:spPr>
          <a:xfrm>
            <a:off x="411480" y="1463040"/>
            <a:ext cx="8321040" cy="1463040"/>
          </a:xfrm>
          <a:prstGeom prst="rect">
            <a:avLst/>
          </a:prstGeom>
          <a:noFill/>
          <a:ln/>
        </p:spPr>
        <p:txBody>
          <a:bodyPr wrap="square"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Understanding Your</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Neurodivergent Child</a:t>
            </a:r>
            <a:endParaRPr lang="en-US" sz="3800" dirty="0"/>
          </a:p>
        </p:txBody>
      </p:sp>
      <p:sp>
        <p:nvSpPr>
          <p:cNvPr id="4" name="Text 2"/>
          <p:cNvSpPr/>
          <p:nvPr/>
        </p:nvSpPr>
        <p:spPr>
          <a:xfrm>
            <a:off x="411480" y="3108960"/>
            <a:ext cx="7315200" cy="640080"/>
          </a:xfrm>
          <a:prstGeom prst="rect">
            <a:avLst/>
          </a:prstGeom>
          <a:noFill/>
          <a:ln/>
        </p:spPr>
        <p:txBody>
          <a:bodyPr wrap="square" rtlCol="0" anchor="ctr"/>
          <a:lstStyle/>
          <a:p>
            <a:pPr algn="l" indent="0" marL="0">
              <a:buNone/>
            </a:pPr>
            <a:r>
              <a:rPr lang="en-US" sz="1600" dirty="0">
                <a:solidFill>
                  <a:srgbClr val="C8E6E3"/>
                </a:solidFill>
                <a:latin typeface="Calibri" pitchFamily="34" charset="0"/>
                <a:ea typeface="Calibri" pitchFamily="34" charset="-122"/>
                <a:cs typeface="Calibri" pitchFamily="34" charset="-120"/>
              </a:rPr>
              <a:t>A two-hour workshop for parents and carers  |  Rich Ferriman, Neurodiversity Global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How this session works</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Two hours. No filtering. Everything matters.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You will hear things that are difficult. That is deliberate.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This is not about managing behaviour. It is about understanding neurology.</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You are not here because you are failing. You are here because you care.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Questions at any point. This is a conversation, not a lecture.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We will cover: the nervous system, school, dopamine, the dark side, family, and what actually helps.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1</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What Is Actually Going On</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Neurodivergence, the nervous system, and why the usual explanations fall short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One in five children. Most are neurodivergent.</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19.6% of pupils in England have identified special educational needs (DfE, 2025)</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Estimated 15 to 20% of the population is neurodivergent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Most common profiles: ADHD, autism, dyslexia, dyspraxia, dyscalculia</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Most children have more than one profile — the system deals with one at a time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40% of children with dyslexia also have ADHD. 80% of autistic people carry at least one co-occurring condition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Your child is not a single label. They are a whole person whose brain works differently in multiple ways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Start here: the nervous system</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nervous system scans constantly for safety or threat. This is not conscious. It is automatic.</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Neurodivergent nervous systems process threat, demand, and sensory input differently</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Load builds faster. Recovery takes longer.</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When the system is in threat mode, verbal reasoning is not available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This is why consequences delivered during a meltdown do not work</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This is why the child who was 'fine' at 3pm is in crisis at 4pm</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You are not seeing bad behaviour. You are seeing a nervous system that has hit its limit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1A2B4A"/>
                </a:solidFill>
                <a:latin typeface="Georgia" pitchFamily="34" charset="0"/>
                <a:ea typeface="Georgia" pitchFamily="34" charset="-122"/>
                <a:cs typeface="Georgia" pitchFamily="34" charset="-120"/>
              </a:rPr>
              <a:t>The cognitive battery</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Shape 3"/>
          <p:cNvSpPr/>
          <p:nvPr/>
        </p:nvSpPr>
        <p:spPr>
          <a:xfrm>
            <a:off x="457200" y="1097280"/>
            <a:ext cx="5943600" cy="1005840"/>
          </a:xfrm>
          <a:prstGeom prst="rect">
            <a:avLst/>
          </a:prstGeom>
          <a:solidFill>
            <a:srgbClr val="FFFFFF"/>
          </a:solidFill>
          <a:ln w="12700">
            <a:solidFill>
              <a:srgbClr val="1A2B4A"/>
            </a:solidFill>
            <a:prstDash val="solid"/>
          </a:ln>
        </p:spPr>
      </p:sp>
      <p:sp>
        <p:nvSpPr>
          <p:cNvPr id="6" name="Shape 4"/>
          <p:cNvSpPr/>
          <p:nvPr/>
        </p:nvSpPr>
        <p:spPr>
          <a:xfrm>
            <a:off x="6400800" y="1325880"/>
            <a:ext cx="320040" cy="548640"/>
          </a:xfrm>
          <a:prstGeom prst="rect">
            <a:avLst/>
          </a:prstGeom>
          <a:solidFill>
            <a:srgbClr val="1A2B4A"/>
          </a:solidFill>
          <a:ln w="12700">
            <a:solidFill>
              <a:srgbClr val="1A2B4A"/>
            </a:solidFill>
            <a:prstDash val="solid"/>
          </a:ln>
        </p:spPr>
      </p:sp>
      <p:sp>
        <p:nvSpPr>
          <p:cNvPr id="7" name="Shape 5"/>
          <p:cNvSpPr/>
          <p:nvPr/>
        </p:nvSpPr>
        <p:spPr>
          <a:xfrm>
            <a:off x="457200" y="1097280"/>
            <a:ext cx="1188720" cy="1005840"/>
          </a:xfrm>
          <a:prstGeom prst="rect">
            <a:avLst/>
          </a:prstGeom>
          <a:solidFill>
            <a:srgbClr val="C0392B"/>
          </a:solidFill>
          <a:ln w="12700">
            <a:solidFill>
              <a:srgbClr val="C0392B"/>
            </a:solidFill>
            <a:prstDash val="solid"/>
          </a:ln>
        </p:spPr>
      </p:sp>
      <p:sp>
        <p:nvSpPr>
          <p:cNvPr id="8" name="Text 6"/>
          <p:cNvSpPr/>
          <p:nvPr/>
        </p:nvSpPr>
        <p:spPr>
          <a:xfrm>
            <a:off x="457200" y="1143000"/>
            <a:ext cx="5943600" cy="914400"/>
          </a:xfrm>
          <a:prstGeom prst="rect">
            <a:avLst/>
          </a:prstGeom>
          <a:noFill/>
          <a:ln/>
        </p:spPr>
        <p:txBody>
          <a:bodyPr wrap="square"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20%</a:t>
            </a:r>
            <a:endParaRPr lang="en-US" sz="3200" dirty="0"/>
          </a:p>
        </p:txBody>
      </p:sp>
      <p:sp>
        <p:nvSpPr>
          <p:cNvPr id="9" name="Text 7"/>
          <p:cNvSpPr/>
          <p:nvPr/>
        </p:nvSpPr>
        <p:spPr>
          <a:xfrm>
            <a:off x="457200" y="2148840"/>
            <a:ext cx="5943600" cy="36576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Remaining capacity for learning</a:t>
            </a:r>
            <a:endParaRPr lang="en-US" sz="1200" dirty="0"/>
          </a:p>
        </p:txBody>
      </p:sp>
      <p:sp>
        <p:nvSpPr>
          <p:cNvPr id="10" name="Text 8"/>
          <p:cNvSpPr/>
          <p:nvPr/>
        </p:nvSpPr>
        <p:spPr>
          <a:xfrm>
            <a:off x="457200" y="2606040"/>
            <a:ext cx="8229600" cy="2286000"/>
          </a:xfrm>
          <a:prstGeom prst="rect">
            <a:avLst/>
          </a:prstGeom>
          <a:noFill/>
          <a:ln/>
        </p:spPr>
        <p:txBody>
          <a:bodyPr wrap="square" rtlCol="0" anchor="ctr"/>
          <a:lstStyle/>
          <a:p>
            <a:pPr indent="0" marL="0">
              <a:buNone/>
            </a:pPr>
            <a:r>
              <a:rPr lang="en-US" sz="1500" b="1" dirty="0">
                <a:solidFill>
                  <a:srgbClr val="1A2B4A"/>
                </a:solidFill>
              </a:rPr>
              <a:t>Sitting still and looking at the teacher is not a baseline for learning.
</a:t>
            </a:r>
            <a:pPr indent="0" marL="0">
              <a:buNone/>
            </a:pPr>
            <a:r>
              <a:rPr lang="en-US" sz="1400" dirty="0">
                <a:solidFill>
                  <a:srgbClr val="4A5568"/>
                </a:solidFill>
              </a:rPr>
              <a:t>For a neurotypical peer: 5% of cognitive energy spent on posture and compliance.
</a:t>
            </a:r>
            <a:pPr indent="0" marL="0">
              <a:buNone/>
            </a:pPr>
            <a:r>
              <a:rPr lang="en-US" sz="1400" dirty="0">
                <a:solidFill>
                  <a:srgbClr val="4A5568"/>
                </a:solidFill>
              </a:rPr>
              <a:t>For a neurodivergent child (ADHD, autism, dyspraxia): up to 80% of the cognitive battery
goes on staying in that chair.
</a:t>
            </a:r>
            <a:pPr indent="0" marL="0">
              <a:buNone/>
            </a:pPr>
            <a:r>
              <a:rPr lang="en-US" sz="1500" b="1" dirty="0">
                <a:solidFill>
                  <a:srgbClr val="C0392B"/>
                </a:solidFill>
              </a:rPr>
              <a:t>Nothing left for learning.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7A6F"/>
        </a:solidFill>
      </p:bgPr>
    </p:bg>
    <p:spTree>
      <p:nvGrpSpPr>
        <p:cNvPr id="1" name=""/>
        <p:cNvGrpSpPr/>
        <p:nvPr/>
      </p:nvGrpSpPr>
      <p:grpSpPr>
        <a:xfrm>
          <a:off x="0" y="0"/>
          <a:ext cx="0" cy="0"/>
          <a:chOff x="0" y="0"/>
          <a:chExt cx="0" cy="0"/>
        </a:xfrm>
      </p:grpSpPr>
      <p:sp>
        <p:nvSpPr>
          <p:cNvPr id="2" name="Text 0"/>
          <p:cNvSpPr/>
          <p:nvPr/>
        </p:nvSpPr>
        <p:spPr>
          <a:xfrm>
            <a:off x="731520" y="1097280"/>
            <a:ext cx="7680960" cy="2194560"/>
          </a:xfrm>
          <a:prstGeom prst="rect">
            <a:avLst/>
          </a:prstGeom>
          <a:noFill/>
          <a:ln/>
        </p:spPr>
        <p:txBody>
          <a:bodyPr wrap="square" rtlCol="0" anchor="ctr"/>
          <a:lstStyle/>
          <a:p>
            <a:pPr algn="ctr" indent="0" marL="0">
              <a:buNone/>
            </a:pPr>
            <a:r>
              <a:rPr lang="en-US" sz="2800" b="1" i="1" dirty="0">
                <a:solidFill>
                  <a:srgbClr val="FFFFFF"/>
                </a:solidFill>
                <a:latin typeface="Georgia" pitchFamily="34" charset="0"/>
                <a:ea typeface="Georgia" pitchFamily="34" charset="-122"/>
                <a:cs typeface="Georgia" pitchFamily="34" charset="-120"/>
              </a:rPr>
              <a:t>The movement is the listening.</a:t>
            </a:r>
            <a:endParaRPr lang="en-US" sz="2800" dirty="0"/>
          </a:p>
          <a:p>
            <a:pPr algn="ctr" indent="0" marL="0">
              <a:buNone/>
            </a:pPr>
            <a:r>
              <a:rPr lang="en-US" sz="2800" b="1" i="1" dirty="0">
                <a:solidFill>
                  <a:srgbClr val="FFFFFF"/>
                </a:solidFill>
                <a:latin typeface="Georgia" pitchFamily="34" charset="0"/>
                <a:ea typeface="Georgia" pitchFamily="34" charset="-122"/>
                <a:cs typeface="Georgia" pitchFamily="34" charset="-120"/>
              </a:rPr>
              <a:t>The humming is the processing.</a:t>
            </a:r>
            <a:endParaRPr lang="en-US" sz="2800" dirty="0"/>
          </a:p>
          <a:p>
            <a:pPr algn="ctr" indent="0" marL="0">
              <a:buNone/>
            </a:pPr>
            <a:r>
              <a:rPr lang="en-US" sz="2800" b="1" i="1" dirty="0">
                <a:solidFill>
                  <a:srgbClr val="FFFFFF"/>
                </a:solidFill>
                <a:latin typeface="Georgia" pitchFamily="34" charset="0"/>
                <a:ea typeface="Georgia" pitchFamily="34" charset="-122"/>
                <a:cs typeface="Georgia" pitchFamily="34" charset="-120"/>
              </a:rPr>
              <a:t>The looking away is the focus.</a:t>
            </a:r>
            <a:endParaRPr lang="en-US" sz="2800" dirty="0"/>
          </a:p>
        </p:txBody>
      </p:sp>
      <p:sp>
        <p:nvSpPr>
          <p:cNvPr id="3" name="Shape 1"/>
          <p:cNvSpPr/>
          <p:nvPr/>
        </p:nvSpPr>
        <p:spPr>
          <a:xfrm>
            <a:off x="3200400" y="3474720"/>
            <a:ext cx="2743200" cy="45720"/>
          </a:xfrm>
          <a:prstGeom prst="rect">
            <a:avLst/>
          </a:prstGeom>
          <a:solidFill>
            <a:srgbClr val="C8E6E3"/>
          </a:solidFill>
          <a:ln w="12700">
            <a:solidFill>
              <a:srgbClr val="C8E6E3"/>
            </a:solidFill>
            <a:prstDash val="solid"/>
          </a:ln>
        </p:spPr>
      </p:sp>
      <p:sp>
        <p:nvSpPr>
          <p:cNvPr id="4" name="Text 2"/>
          <p:cNvSpPr/>
          <p:nvPr/>
        </p:nvSpPr>
        <p:spPr>
          <a:xfrm>
            <a:off x="731520" y="3611880"/>
            <a:ext cx="7680960" cy="731520"/>
          </a:xfrm>
          <a:prstGeom prst="rect">
            <a:avLst/>
          </a:prstGeom>
          <a:noFill/>
          <a:ln/>
        </p:spPr>
        <p:txBody>
          <a:bodyPr wrap="square" rtlCol="0" anchor="ctr"/>
          <a:lstStyle/>
          <a:p>
            <a:pPr algn="ctr" indent="0" marL="0">
              <a:buNone/>
            </a:pPr>
            <a:r>
              <a:rPr lang="en-US" sz="1400" dirty="0">
                <a:solidFill>
                  <a:srgbClr val="FAF8F5"/>
                </a:solidFill>
                <a:latin typeface="Calibri" pitchFamily="34" charset="0"/>
                <a:ea typeface="Calibri" pitchFamily="34" charset="-122"/>
                <a:cs typeface="Calibri" pitchFamily="34" charset="-120"/>
              </a:rPr>
              <a:t>What adults read as non-compliance is often the child's only way to stay in the room.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1A2B4A"/>
                </a:solidFill>
                <a:latin typeface="Georgia" pitchFamily="34" charset="0"/>
                <a:ea typeface="Georgia" pitchFamily="34" charset="-122"/>
                <a:cs typeface="Georgia" pitchFamily="34" charset="-120"/>
              </a:rPr>
              <a:t>Behaviour is a signal, not a character flaw</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Shape 3"/>
          <p:cNvSpPr/>
          <p:nvPr/>
        </p:nvSpPr>
        <p:spPr>
          <a:xfrm>
            <a:off x="36576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4864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Kids do well if they can (Ross Greene)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When a child is not doing well, ask: what is getting in the way?</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Behaviour is the visible output of an invisible load</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Refusal = threat response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Aggression = overloaded nervous system</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Shutdown = protective collapse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Avoidance = the only available tool</a:t>
            </a:r>
            <a:endParaRPr lang="en-US" sz="1350" dirty="0"/>
          </a:p>
        </p:txBody>
      </p:sp>
      <p:sp>
        <p:nvSpPr>
          <p:cNvPr id="7" name="Shape 5"/>
          <p:cNvSpPr/>
          <p:nvPr/>
        </p:nvSpPr>
        <p:spPr>
          <a:xfrm>
            <a:off x="484632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What is the sensory load right now?</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What demands have already built up today?</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Has the child eaten, slept, had any decompression time?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What happened at school today?</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Is this a new environment or transition?</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When did I last connect without asking anything of them?</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What was I like just before this started?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2</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School, Masking and the Cost of Fitting In</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What is happening in the building they spend six hours a day in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922A"/>
          </a:solidFill>
          <a:ln w="12700">
            <a:solidFill>
              <a:srgbClr val="E8922A"/>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school system is not designed for these children</a:t>
            </a:r>
            <a:endParaRPr lang="en-US" sz="2200" dirty="0"/>
          </a:p>
        </p:txBody>
      </p:sp>
      <p:sp>
        <p:nvSpPr>
          <p:cNvPr id="4" name="Shape 2"/>
          <p:cNvSpPr/>
          <p:nvPr/>
        </p:nvSpPr>
        <p:spPr>
          <a:xfrm>
            <a:off x="27432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68%</a:t>
            </a:r>
            <a:endParaRPr lang="en-US" sz="4200" dirty="0"/>
          </a:p>
        </p:txBody>
      </p:sp>
      <p:sp>
        <p:nvSpPr>
          <p:cNvPr id="6" name="Text 4"/>
          <p:cNvSpPr/>
          <p:nvPr/>
        </p:nvSpPr>
        <p:spPr>
          <a:xfrm>
            <a:off x="36576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primary teachers feel unprepared for SEND (YouGov/Ofsted 2024)</a:t>
            </a:r>
            <a:endParaRPr lang="en-US" sz="1300" dirty="0"/>
          </a:p>
        </p:txBody>
      </p:sp>
      <p:sp>
        <p:nvSpPr>
          <p:cNvPr id="7" name="Shape 5"/>
          <p:cNvSpPr/>
          <p:nvPr/>
        </p:nvSpPr>
        <p:spPr>
          <a:xfrm>
            <a:off x="260604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69748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35%</a:t>
            </a:r>
            <a:endParaRPr lang="en-US" sz="4200" dirty="0"/>
          </a:p>
        </p:txBody>
      </p:sp>
      <p:sp>
        <p:nvSpPr>
          <p:cNvPr id="9" name="Text 7"/>
          <p:cNvSpPr/>
          <p:nvPr/>
        </p:nvSpPr>
        <p:spPr>
          <a:xfrm>
            <a:off x="269748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children with EHCPs are persistently absent from school</a:t>
            </a:r>
            <a:endParaRPr lang="en-US" sz="1300" dirty="0"/>
          </a:p>
        </p:txBody>
      </p:sp>
      <p:sp>
        <p:nvSpPr>
          <p:cNvPr id="10" name="Shape 8"/>
          <p:cNvSpPr/>
          <p:nvPr/>
        </p:nvSpPr>
        <p:spPr>
          <a:xfrm>
            <a:off x="493776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02920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4×</a:t>
            </a:r>
            <a:endParaRPr lang="en-US" sz="4200" dirty="0"/>
          </a:p>
        </p:txBody>
      </p:sp>
      <p:sp>
        <p:nvSpPr>
          <p:cNvPr id="12" name="Text 10"/>
          <p:cNvSpPr/>
          <p:nvPr/>
        </p:nvSpPr>
        <p:spPr>
          <a:xfrm>
            <a:off x="502920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more likely to be suspended if you have SEN support</a:t>
            </a:r>
            <a:endParaRPr lang="en-US" sz="1300" dirty="0"/>
          </a:p>
        </p:txBody>
      </p:sp>
      <p:sp>
        <p:nvSpPr>
          <p:cNvPr id="13" name="Shape 11"/>
          <p:cNvSpPr/>
          <p:nvPr/>
        </p:nvSpPr>
        <p:spPr>
          <a:xfrm>
            <a:off x="726948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736092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92%</a:t>
            </a:r>
            <a:endParaRPr lang="en-US" sz="4200" dirty="0"/>
          </a:p>
        </p:txBody>
      </p:sp>
      <p:sp>
        <p:nvSpPr>
          <p:cNvPr id="15" name="Text 13"/>
          <p:cNvSpPr/>
          <p:nvPr/>
        </p:nvSpPr>
        <p:spPr>
          <a:xfrm>
            <a:off x="736092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children experiencing school distress are neurodivergent (Connolly 2023)</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Masking: the performance no one asked for</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Masking is the suppression of natural behaviour to fit in. It is effortful, constant, and invisible to adults.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Children rehearse scripts, copy peers, suppress stims, and perform normality</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school sees a child coping. The parent sees a child in crisis. Both are right.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What parents see at 4pm is restraint collapse — the child finally being safe enough to fall apart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Higher masking is consistently associated with worse mental health: more anxiety, more depression, more exhaustion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Masking is independently associated with suicidal ideation in adolescents (Cassidy et al., UCL)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Girls mask more effectively. They are identified later. The damage accumulates longer.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The children without paperwork</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236,225 children on autism assessment waiting lists in England (NHS, June 2025)</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549,000 people waiting for ADHD assessment (Nuffield Trust, 2024)</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In some areas children wait three to eight years for an autism assessment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 diagnosis is NOT a prerequisite for support. Schools must respond to need, not labels.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SEND Code of Practice requires schools to assess, plan, do, and review</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Reasonable adjustments under the Equality Act apply from the point of need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Children waiting for diagnosis are spending those years in chronic nervous system alarm, labelled dreamers, disruptive, or lazy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7A6F"/>
        </a:solidFill>
      </p:bgPr>
    </p:bg>
    <p:spTree>
      <p:nvGrpSpPr>
        <p:cNvPr id="1" name=""/>
        <p:cNvGrpSpPr/>
        <p:nvPr/>
      </p:nvGrpSpPr>
      <p:grpSpPr>
        <a:xfrm>
          <a:off x="0" y="0"/>
          <a:ext cx="0" cy="0"/>
          <a:chOff x="0" y="0"/>
          <a:chExt cx="0" cy="0"/>
        </a:xfrm>
      </p:grpSpPr>
      <p:sp>
        <p:nvSpPr>
          <p:cNvPr id="2" name="Text 0"/>
          <p:cNvSpPr/>
          <p:nvPr/>
        </p:nvSpPr>
        <p:spPr>
          <a:xfrm>
            <a:off x="731520" y="1097280"/>
            <a:ext cx="7680960" cy="2194560"/>
          </a:xfrm>
          <a:prstGeom prst="rect">
            <a:avLst/>
          </a:prstGeom>
          <a:noFill/>
          <a:ln/>
        </p:spPr>
        <p:txBody>
          <a:bodyPr wrap="square" rtlCol="0" anchor="ctr"/>
          <a:lstStyle/>
          <a:p>
            <a:pPr algn="ctr" indent="0" marL="0">
              <a:buNone/>
            </a:pPr>
            <a:r>
              <a:rPr lang="en-US" sz="2800" b="1" i="1" dirty="0">
                <a:solidFill>
                  <a:srgbClr val="FFFFFF"/>
                </a:solidFill>
                <a:latin typeface="Georgia" pitchFamily="34" charset="0"/>
                <a:ea typeface="Georgia" pitchFamily="34" charset="-122"/>
                <a:cs typeface="Georgia" pitchFamily="34" charset="-120"/>
              </a:rPr>
              <a:t>Neuroaffirming practice is not special treatment.</a:t>
            </a:r>
            <a:endParaRPr lang="en-US" sz="2800" dirty="0"/>
          </a:p>
          <a:p>
            <a:pPr algn="ctr" indent="0" marL="0">
              <a:buNone/>
            </a:pPr>
            <a:r>
              <a:rPr lang="en-US" sz="2800" b="1" i="1" dirty="0">
                <a:solidFill>
                  <a:srgbClr val="FFFFFF"/>
                </a:solidFill>
                <a:latin typeface="Georgia" pitchFamily="34" charset="0"/>
                <a:ea typeface="Georgia" pitchFamily="34" charset="-122"/>
                <a:cs typeface="Georgia" pitchFamily="34" charset="-120"/>
              </a:rPr>
              <a:t>It is accessibility.</a:t>
            </a:r>
            <a:endParaRPr lang="en-US" sz="2800" dirty="0"/>
          </a:p>
        </p:txBody>
      </p:sp>
      <p:sp>
        <p:nvSpPr>
          <p:cNvPr id="3" name="Shape 1"/>
          <p:cNvSpPr/>
          <p:nvPr/>
        </p:nvSpPr>
        <p:spPr>
          <a:xfrm>
            <a:off x="3200400" y="3474720"/>
            <a:ext cx="2743200" cy="45720"/>
          </a:xfrm>
          <a:prstGeom prst="rect">
            <a:avLst/>
          </a:prstGeom>
          <a:solidFill>
            <a:srgbClr val="C8E6E3"/>
          </a:solidFill>
          <a:ln w="12700">
            <a:solidFill>
              <a:srgbClr val="C8E6E3"/>
            </a:solidFill>
            <a:prstDash val="solid"/>
          </a:ln>
        </p:spPr>
      </p:sp>
      <p:sp>
        <p:nvSpPr>
          <p:cNvPr id="4" name="Text 2"/>
          <p:cNvSpPr/>
          <p:nvPr/>
        </p:nvSpPr>
        <p:spPr>
          <a:xfrm>
            <a:off x="731520" y="3611880"/>
            <a:ext cx="7680960" cy="731520"/>
          </a:xfrm>
          <a:prstGeom prst="rect">
            <a:avLst/>
          </a:prstGeom>
          <a:noFill/>
          <a:ln/>
        </p:spPr>
        <p:txBody>
          <a:bodyPr wrap="square" rtlCol="0" anchor="ctr"/>
          <a:lstStyle/>
          <a:p>
            <a:pPr algn="ctr" indent="0" marL="0">
              <a:buNone/>
            </a:pPr>
            <a:r>
              <a:rPr lang="en-US" sz="1400" dirty="0">
                <a:solidFill>
                  <a:srgbClr val="FAF8F5"/>
                </a:solidFill>
                <a:latin typeface="Calibri" pitchFamily="34" charset="0"/>
                <a:ea typeface="Calibri" pitchFamily="34" charset="-122"/>
                <a:cs typeface="Calibri" pitchFamily="34" charset="-120"/>
              </a:rPr>
              <a:t>If a child needs glasses to see the board, we do not call it a perk.</a:t>
            </a:r>
            <a:endParaRPr lang="en-US" sz="1400" dirty="0"/>
          </a:p>
          <a:p>
            <a:pPr algn="ctr" indent="0" marL="0">
              <a:buNone/>
            </a:pPr>
            <a:r>
              <a:rPr lang="en-US" sz="1400" dirty="0">
                <a:solidFill>
                  <a:srgbClr val="FAF8F5"/>
                </a:solidFill>
                <a:latin typeface="Calibri" pitchFamily="34" charset="0"/>
                <a:ea typeface="Calibri" pitchFamily="34" charset="-122"/>
                <a:cs typeface="Calibri" pitchFamily="34" charset="-120"/>
              </a:rPr>
              <a:t>If a child needs to pace, chew, or wear headphones to process a sentence — that is their glasses.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3</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Dopamine, Risk and Adolescence</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What the teenage years actually involve for a neurodivergent brain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Dopamine: the system that drives everything</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Dopamine is not a happiness chemical. It is a motivation and reward signal.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For many neurodivergent people, the dopamine system does not deliver a steady, usable signal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brain goes searching for stimulation to reach a level where it can function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This is called dopamine searching — it is neurological, not a choice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In younger children: noise, movement, interrupting, refusing boring tasks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In adolescence: the same drive finds riskier outlets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creativity, hyperfocus, and courage are the same system. You cannot separate them.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Puberty: the crisis point no one prepares you for</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Hormonal changes directly affect dopamine regulation — this is not incidental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Oestrogen fluctuations in girls specifically affect dopamine pathways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Executive function demands increase sharply at secondary school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Strategies that worked in Year 5 collapse under Year 8 conditions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Autistic young people may experience puberty earlier than the general population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For girls: many are first flagged for mental health support during puberty — not because it started then, but because coping strategies collapsed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cliff edge at secondary transition is real and well documented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1A2B4A"/>
                </a:solidFill>
                <a:latin typeface="Georgia" pitchFamily="34" charset="0"/>
                <a:ea typeface="Georgia" pitchFamily="34" charset="-122"/>
                <a:cs typeface="Georgia" pitchFamily="34" charset="-120"/>
              </a:rPr>
              <a:t>What dopamine searching looks like in adolescence</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Shape 3"/>
          <p:cNvSpPr/>
          <p:nvPr/>
        </p:nvSpPr>
        <p:spPr>
          <a:xfrm>
            <a:off x="36576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4864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Speed and physical risk</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Intense or volatile relationships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Substance use (cannabis, alcohol, stimulants)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Gaming and screen use to exhaustion</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Pornography</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Gambling and gambling-adjacent gaming</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Sexual risk-taking</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Fights and confrontation</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Anything that produces a fast, strong dopamine response</a:t>
            </a:r>
            <a:endParaRPr lang="en-US" sz="1350" dirty="0"/>
          </a:p>
        </p:txBody>
      </p:sp>
      <p:sp>
        <p:nvSpPr>
          <p:cNvPr id="7" name="Shape 5"/>
          <p:cNvSpPr/>
          <p:nvPr/>
        </p:nvSpPr>
        <p:spPr>
          <a:xfrm>
            <a:off x="484632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This is not bad character</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It is a brain doing what brains do when ordinary reward is insufficient</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The same drive produces creativity, passion, and courage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Suppressing it without understanding it makes it worse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Understanding the mechanism is the starting point for addressing the risk</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Punishment without understanding increases shame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Shame increases the need for dopamine relief</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The cycle continues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Smartphones and the neurodivergent brain</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Every notification, swipe, and new piece of content produces a small dopamine response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Smartphones are designed around unpredictability — the brain learns to check, then check again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For neurodivergent children with dopamine regulation differences, highly stimulating technology is harder to disengage from</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This is not weakness. It is the same system being targeted by design.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Abrupt removal causes dysregulation — replace, do not just remove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Five-minute warnings. Gradual transitions. Replace with an alternative source of regulation.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Screens are also connection tools for isolated children. Do not treat them as only a risk.</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0392B"/>
          </a:solidFill>
          <a:ln w="12700">
            <a:solidFill>
              <a:srgbClr val="C0392B"/>
            </a:solidFill>
            <a:prstDash val="solid"/>
          </a:ln>
        </p:spPr>
      </p:sp>
      <p:sp>
        <p:nvSpPr>
          <p:cNvPr id="3" name="Shape 1"/>
          <p:cNvSpPr/>
          <p:nvPr/>
        </p:nvSpPr>
        <p:spPr>
          <a:xfrm>
            <a:off x="0" y="0"/>
            <a:ext cx="164592" cy="5143500"/>
          </a:xfrm>
          <a:prstGeom prst="rect">
            <a:avLst/>
          </a:prstGeom>
          <a:solidFill>
            <a:srgbClr val="C0392B"/>
          </a:solidFill>
          <a:ln w="12700">
            <a:solidFill>
              <a:srgbClr val="C0392B"/>
            </a:solidFill>
            <a:prstDash val="solid"/>
          </a:ln>
        </p:spPr>
      </p:sp>
      <p:sp>
        <p:nvSpPr>
          <p:cNvPr id="4" name="Text 2"/>
          <p:cNvSpPr/>
          <p:nvPr/>
        </p:nvSpPr>
        <p:spPr>
          <a:xfrm>
            <a:off x="411480" y="182880"/>
            <a:ext cx="8229600" cy="457200"/>
          </a:xfrm>
          <a:prstGeom prst="rect">
            <a:avLst/>
          </a:prstGeom>
          <a:noFill/>
          <a:ln/>
        </p:spPr>
        <p:txBody>
          <a:bodyPr wrap="square" rtlCol="0" anchor="ctr"/>
          <a:lstStyle/>
          <a:p>
            <a:pPr indent="0" marL="0">
              <a:buNone/>
            </a:pPr>
            <a:r>
              <a:rPr lang="en-US" sz="1300" b="1" spc="400" kern="0" dirty="0">
                <a:solidFill>
                  <a:srgbClr val="CC7777"/>
                </a:solidFill>
                <a:latin typeface="Calibri" pitchFamily="34" charset="0"/>
                <a:ea typeface="Calibri" pitchFamily="34" charset="-122"/>
                <a:cs typeface="Calibri" pitchFamily="34" charset="-120"/>
              </a:rPr>
              <a:t>SECTION 4</a:t>
            </a:r>
            <a:endParaRPr lang="en-US" sz="1300" dirty="0"/>
          </a:p>
        </p:txBody>
      </p:sp>
      <p:sp>
        <p:nvSpPr>
          <p:cNvPr id="5" name="Text 3"/>
          <p:cNvSpPr/>
          <p:nvPr/>
        </p:nvSpPr>
        <p:spPr>
          <a:xfrm>
            <a:off x="411480" y="822960"/>
            <a:ext cx="8229600" cy="10972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Difficult Truth</a:t>
            </a:r>
            <a:endParaRPr lang="en-US" sz="3600" dirty="0"/>
          </a:p>
        </p:txBody>
      </p:sp>
      <p:sp>
        <p:nvSpPr>
          <p:cNvPr id="6" name="Text 4"/>
          <p:cNvSpPr/>
          <p:nvPr/>
        </p:nvSpPr>
        <p:spPr>
          <a:xfrm>
            <a:off x="411480" y="2011680"/>
            <a:ext cx="7772400" cy="914400"/>
          </a:xfrm>
          <a:prstGeom prst="rect">
            <a:avLst/>
          </a:prstGeom>
          <a:noFill/>
          <a:ln/>
        </p:spPr>
        <p:txBody>
          <a:bodyPr wrap="square" rtlCol="0" anchor="ctr"/>
          <a:lstStyle/>
          <a:p>
            <a:pPr indent="0" marL="0">
              <a:buNone/>
            </a:pPr>
            <a:r>
              <a:rPr lang="en-US" sz="1600" dirty="0">
                <a:solidFill>
                  <a:srgbClr val="CCCCCC"/>
                </a:solidFill>
                <a:latin typeface="Calibri" pitchFamily="34" charset="0"/>
                <a:ea typeface="Calibri" pitchFamily="34" charset="-122"/>
                <a:cs typeface="Calibri" pitchFamily="34" charset="-120"/>
              </a:rPr>
              <a:t>Self-harm, suicide, exploitation and what parents need to know</a:t>
            </a:r>
            <a:endParaRPr lang="en-US" sz="1600" dirty="0"/>
          </a:p>
        </p:txBody>
      </p:sp>
      <p:sp>
        <p:nvSpPr>
          <p:cNvPr id="7" name="Text 5"/>
          <p:cNvSpPr/>
          <p:nvPr/>
        </p:nvSpPr>
        <p:spPr>
          <a:xfrm>
            <a:off x="411480" y="3108960"/>
            <a:ext cx="7315200" cy="822960"/>
          </a:xfrm>
          <a:prstGeom prst="rect">
            <a:avLst/>
          </a:prstGeom>
          <a:noFill/>
          <a:ln/>
        </p:spPr>
        <p:txBody>
          <a:bodyPr wrap="square" rtlCol="0" anchor="ctr"/>
          <a:lstStyle/>
          <a:p>
            <a:pPr indent="0" marL="0">
              <a:buNone/>
            </a:pPr>
            <a:r>
              <a:rPr lang="en-US" sz="1400" i="1" dirty="0">
                <a:solidFill>
                  <a:srgbClr val="AAAAAA"/>
                </a:solidFill>
                <a:latin typeface="Calibri" pitchFamily="34" charset="0"/>
                <a:ea typeface="Calibri" pitchFamily="34" charset="-122"/>
                <a:cs typeface="Calibri" pitchFamily="34" charset="-120"/>
              </a:rPr>
              <a:t>This section contains difficult content.</a:t>
            </a:r>
            <a:endParaRPr lang="en-US" sz="1400" dirty="0"/>
          </a:p>
          <a:p>
            <a:pPr indent="0" marL="0">
              <a:buNone/>
            </a:pPr>
            <a:r>
              <a:rPr lang="en-US" sz="1400" i="1" dirty="0">
                <a:solidFill>
                  <a:srgbClr val="AAAAAA"/>
                </a:solidFill>
                <a:latin typeface="Calibri" pitchFamily="34" charset="0"/>
                <a:ea typeface="Calibri" pitchFamily="34" charset="-122"/>
                <a:cs typeface="Calibri" pitchFamily="34" charset="-120"/>
              </a:rPr>
              <a:t>Take a breath. You need to know this.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411480" y="228600"/>
            <a:ext cx="8321040" cy="6858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Self-harm: what it is and what it is not</a:t>
            </a:r>
            <a:endParaRPr lang="en-US" sz="2200" dirty="0"/>
          </a:p>
        </p:txBody>
      </p:sp>
      <p:sp>
        <p:nvSpPr>
          <p:cNvPr id="4" name="Shape 2"/>
          <p:cNvSpPr/>
          <p:nvPr/>
        </p:nvSpPr>
        <p:spPr>
          <a:xfrm>
            <a:off x="411480" y="960120"/>
            <a:ext cx="8321040" cy="22860"/>
          </a:xfrm>
          <a:prstGeom prst="rect">
            <a:avLst/>
          </a:prstGeom>
          <a:solidFill>
            <a:srgbClr val="C0392B"/>
          </a:solidFill>
          <a:ln w="12700">
            <a:solidFill>
              <a:srgbClr val="C0392B"/>
            </a:solidFill>
            <a:prstDash val="solid"/>
          </a:ln>
        </p:spPr>
      </p:sp>
      <p:sp>
        <p:nvSpPr>
          <p:cNvPr id="5" name="Text 3"/>
          <p:cNvSpPr/>
          <p:nvPr/>
        </p:nvSpPr>
        <p:spPr>
          <a:xfrm>
            <a:off x="411480" y="1097280"/>
            <a:ext cx="8321040" cy="3749040"/>
          </a:xfrm>
          <a:prstGeom prst="rect">
            <a:avLst/>
          </a:prstGeom>
          <a:noFill/>
          <a:ln/>
        </p:spPr>
        <p:txBody>
          <a:bodyPr wrap="square" rtlCol="0" anchor="ctr"/>
          <a:lstStyle/>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Self-harm in neurodivergent young people is significantly more common than in the general adolescent population</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It frequently presents as a regulation strategy before it presents as a mental health crisis</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Physical pain releases endorphins and briefly creates regulation when no other tool is working</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The young person is not trying to die. They are trying to survive a moment that feels unsurvivable.</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Responding with panic, interrogation, or punishment teaches the child to hide it better next time</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The moment of disclosure requires calm, non-punitive, connection-first responses</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Girls diagnosed late are specifically at elevated risk — downstream consequence of years of masking</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72% of autistic adults in a UK study scored above the psychiatric cut-off for suicide risk (Cassidy et al.)</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922A"/>
          </a:solidFill>
          <a:ln w="12700">
            <a:solidFill>
              <a:srgbClr val="E8922A"/>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Suicide risk in neurodivergent young people</a:t>
            </a:r>
            <a:endParaRPr lang="en-US" sz="2200" dirty="0"/>
          </a:p>
        </p:txBody>
      </p:sp>
      <p:sp>
        <p:nvSpPr>
          <p:cNvPr id="4" name="Shape 2"/>
          <p:cNvSpPr/>
          <p:nvPr/>
        </p:nvSpPr>
        <p:spPr>
          <a:xfrm>
            <a:off x="27432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9×</a:t>
            </a:r>
            <a:endParaRPr lang="en-US" sz="4200" dirty="0"/>
          </a:p>
        </p:txBody>
      </p:sp>
      <p:sp>
        <p:nvSpPr>
          <p:cNvPr id="6" name="Text 4"/>
          <p:cNvSpPr/>
          <p:nvPr/>
        </p:nvSpPr>
        <p:spPr>
          <a:xfrm>
            <a:off x="36576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Autistic people are up to 9 times more likely to die by suicide (Autistica)</a:t>
            </a:r>
            <a:endParaRPr lang="en-US" sz="1300" dirty="0"/>
          </a:p>
        </p:txBody>
      </p:sp>
      <p:sp>
        <p:nvSpPr>
          <p:cNvPr id="7" name="Shape 5"/>
          <p:cNvSpPr/>
          <p:nvPr/>
        </p:nvSpPr>
        <p:spPr>
          <a:xfrm>
            <a:off x="260604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69748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20%</a:t>
            </a:r>
            <a:endParaRPr lang="en-US" sz="4200" dirty="0"/>
          </a:p>
        </p:txBody>
      </p:sp>
      <p:sp>
        <p:nvSpPr>
          <p:cNvPr id="9" name="Text 7"/>
          <p:cNvSpPr/>
          <p:nvPr/>
        </p:nvSpPr>
        <p:spPr>
          <a:xfrm>
            <a:off x="269748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autistic children and teenagers report suicidal ideation in the past year</a:t>
            </a:r>
            <a:endParaRPr lang="en-US" sz="1300" dirty="0"/>
          </a:p>
        </p:txBody>
      </p:sp>
      <p:sp>
        <p:nvSpPr>
          <p:cNvPr id="10" name="Shape 8"/>
          <p:cNvSpPr/>
          <p:nvPr/>
        </p:nvSpPr>
        <p:spPr>
          <a:xfrm>
            <a:off x="493776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02920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10%</a:t>
            </a:r>
            <a:endParaRPr lang="en-US" sz="4200" dirty="0"/>
          </a:p>
        </p:txBody>
      </p:sp>
      <p:sp>
        <p:nvSpPr>
          <p:cNvPr id="12" name="Text 10"/>
          <p:cNvSpPr/>
          <p:nvPr/>
        </p:nvSpPr>
        <p:spPr>
          <a:xfrm>
            <a:off x="502920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autistic adolescents report suicide attempts (vs 1% in general population)</a:t>
            </a:r>
            <a:endParaRPr lang="en-US" sz="1300" dirty="0"/>
          </a:p>
        </p:txBody>
      </p:sp>
      <p:sp>
        <p:nvSpPr>
          <p:cNvPr id="13" name="Shape 11"/>
          <p:cNvSpPr/>
          <p:nvPr/>
        </p:nvSpPr>
        <p:spPr>
          <a:xfrm>
            <a:off x="726948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736092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66%</a:t>
            </a:r>
            <a:endParaRPr lang="en-US" sz="4200" dirty="0"/>
          </a:p>
        </p:txBody>
      </p:sp>
      <p:sp>
        <p:nvSpPr>
          <p:cNvPr id="15" name="Text 13"/>
          <p:cNvSpPr/>
          <p:nvPr/>
        </p:nvSpPr>
        <p:spPr>
          <a:xfrm>
            <a:off x="736092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autistic adults at a UK diagnostic clinic reported suicidal ideation (Cassidy, Lancet Psychiatry)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411480" y="228600"/>
            <a:ext cx="8321040" cy="6858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pathway — and where it can be interrupted</a:t>
            </a:r>
            <a:endParaRPr lang="en-US" sz="2200" dirty="0"/>
          </a:p>
        </p:txBody>
      </p:sp>
      <p:sp>
        <p:nvSpPr>
          <p:cNvPr id="4" name="Shape 2"/>
          <p:cNvSpPr/>
          <p:nvPr/>
        </p:nvSpPr>
        <p:spPr>
          <a:xfrm>
            <a:off x="411480" y="960120"/>
            <a:ext cx="8321040" cy="22860"/>
          </a:xfrm>
          <a:prstGeom prst="rect">
            <a:avLst/>
          </a:prstGeom>
          <a:solidFill>
            <a:srgbClr val="C0392B"/>
          </a:solidFill>
          <a:ln w="12700">
            <a:solidFill>
              <a:srgbClr val="C0392B"/>
            </a:solidFill>
            <a:prstDash val="solid"/>
          </a:ln>
        </p:spPr>
      </p:sp>
      <p:sp>
        <p:nvSpPr>
          <p:cNvPr id="5" name="Text 3"/>
          <p:cNvSpPr/>
          <p:nvPr/>
        </p:nvSpPr>
        <p:spPr>
          <a:xfrm>
            <a:off x="411480" y="1097280"/>
            <a:ext cx="8321040" cy="3749040"/>
          </a:xfrm>
          <a:prstGeom prst="rect">
            <a:avLst/>
          </a:prstGeom>
          <a:noFill/>
          <a:ln/>
        </p:spPr>
        <p:txBody>
          <a:bodyPr wrap="square" rtlCol="0" anchor="ctr"/>
          <a:lstStyle/>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Child is neurodivergent. Needs are unmet. School environment causes chronic stress.</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Child masks to survive. Masking exhausts them. Identity erodes.</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Mental health deteriorates. Anxiety, depression, self-harm emerge.</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CAMHS threshold not met, or waiting list stretches to years. 40% of referred children turned away.</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School exclusion. Structure and relationship removed. Child now available for exploitation.</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County lines, criminal justice system, custody.</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Every stage of this pathway has an intervention point.</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Early understanding is the first and most powerful one.</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411480" y="228600"/>
            <a:ext cx="8321040" cy="6858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Exploitation, consent, and sexual safety</a:t>
            </a:r>
            <a:endParaRPr lang="en-US" sz="2200" dirty="0"/>
          </a:p>
        </p:txBody>
      </p:sp>
      <p:sp>
        <p:nvSpPr>
          <p:cNvPr id="4" name="Shape 2"/>
          <p:cNvSpPr/>
          <p:nvPr/>
        </p:nvSpPr>
        <p:spPr>
          <a:xfrm>
            <a:off x="411480" y="960120"/>
            <a:ext cx="8321040" cy="22860"/>
          </a:xfrm>
          <a:prstGeom prst="rect">
            <a:avLst/>
          </a:prstGeom>
          <a:solidFill>
            <a:srgbClr val="C0392B"/>
          </a:solidFill>
          <a:ln w="12700">
            <a:solidFill>
              <a:srgbClr val="C0392B"/>
            </a:solidFill>
            <a:prstDash val="solid"/>
          </a:ln>
        </p:spPr>
      </p:sp>
      <p:sp>
        <p:nvSpPr>
          <p:cNvPr id="5" name="Text 3"/>
          <p:cNvSpPr/>
          <p:nvPr/>
        </p:nvSpPr>
        <p:spPr>
          <a:xfrm>
            <a:off x="411480" y="1097280"/>
            <a:ext cx="8321040" cy="3749040"/>
          </a:xfrm>
          <a:prstGeom prst="rect">
            <a:avLst/>
          </a:prstGeom>
          <a:noFill/>
          <a:ln/>
        </p:spPr>
        <p:txBody>
          <a:bodyPr wrap="square" rtlCol="0" anchor="ctr"/>
          <a:lstStyle/>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UK Government statutory guidance explicitly identifies neurodivergent children as at heightened risk of criminal exploitation and grooming</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Autistic females are over twice as likely to have consented to an unwanted sexual event</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Mate crime: someone pretending to be a friend to exploit a young person starved of genuine connection</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Difficulty reading others' intentions combined with a desperate need for belonging creates specific vulnerability</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Sexual health education for neurodivergent young people in the UK is inadequate — research shows autistic adults received no teaching on consent or abusive behaviour</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Safety conversations need to be explicit, direct, and repeated — not euphemistic</a:t>
            </a:r>
            <a:endParaRPr lang="en-US" sz="1450" dirty="0"/>
          </a:p>
          <a:p>
            <a:pPr marL="342900" indent="-342900">
              <a:spcAft>
                <a:spcPts val="700"/>
              </a:spcAft>
              <a:buSzPct val="100000"/>
              <a:buChar char="•"/>
            </a:pPr>
            <a:r>
              <a:rPr lang="en-US" sz="1450" dirty="0">
                <a:solidFill>
                  <a:srgbClr val="E8E8E8"/>
                </a:solidFill>
                <a:latin typeface="Calibri" pitchFamily="34" charset="0"/>
                <a:ea typeface="Calibri" pitchFamily="34" charset="-122"/>
                <a:cs typeface="Calibri" pitchFamily="34" charset="-120"/>
              </a:rPr>
              <a:t>Teach the difference between someone who wants connection and someone who wants to exploit it</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5</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Family, Disbelief and Relationship Strain</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The people around you, and why this is harder than anyone outside it can understand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The people who do not believe</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Grandparents grew up in a system that had no framework for neurodivergence — naughty, spoilt, weak, lazy</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grandparent who says 'he was fine with me' is often right. The child was masking. That is the problem.</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Many grandparents are themselves unidentified neurodivergent adults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parent fighting for their child is implicitly saying the grandparent missed something — that is painful to hear</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Defensiveness that looks like disbelief is often self-protection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goal is not to win the argument. It is to reduce the additional load of managing that relationship.</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glasses line works here too. Accessibility is not the same as making excuses.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922A"/>
          </a:solidFill>
          <a:ln w="12700">
            <a:solidFill>
              <a:srgbClr val="E8922A"/>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strain on relationships</a:t>
            </a:r>
            <a:endParaRPr lang="en-US" sz="2200" dirty="0"/>
          </a:p>
        </p:txBody>
      </p:sp>
      <p:sp>
        <p:nvSpPr>
          <p:cNvPr id="4" name="Shape 2"/>
          <p:cNvSpPr/>
          <p:nvPr/>
        </p:nvSpPr>
        <p:spPr>
          <a:xfrm>
            <a:off x="27432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40%</a:t>
            </a:r>
            <a:endParaRPr lang="en-US" sz="4200" dirty="0"/>
          </a:p>
        </p:txBody>
      </p:sp>
      <p:sp>
        <p:nvSpPr>
          <p:cNvPr id="6" name="Text 4"/>
          <p:cNvSpPr/>
          <p:nvPr/>
        </p:nvSpPr>
        <p:spPr>
          <a:xfrm>
            <a:off x="36576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parent carers have experienced relationship breakdown since their child's diagnosis (Disabled Children's Partnership 2021)</a:t>
            </a:r>
            <a:endParaRPr lang="en-US" sz="1300" dirty="0"/>
          </a:p>
        </p:txBody>
      </p:sp>
      <p:sp>
        <p:nvSpPr>
          <p:cNvPr id="7" name="Shape 5"/>
          <p:cNvSpPr/>
          <p:nvPr/>
        </p:nvSpPr>
        <p:spPr>
          <a:xfrm>
            <a:off x="260604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69748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41%</a:t>
            </a:r>
            <a:endParaRPr lang="en-US" sz="4200" dirty="0"/>
          </a:p>
        </p:txBody>
      </p:sp>
      <p:sp>
        <p:nvSpPr>
          <p:cNvPr id="9" name="Text 7"/>
          <p:cNvSpPr/>
          <p:nvPr/>
        </p:nvSpPr>
        <p:spPr>
          <a:xfrm>
            <a:off x="269748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families surveyed by Family Fund were headed by lone parents</a:t>
            </a:r>
            <a:endParaRPr lang="en-US" sz="1300" dirty="0"/>
          </a:p>
        </p:txBody>
      </p:sp>
      <p:sp>
        <p:nvSpPr>
          <p:cNvPr id="10" name="Shape 8"/>
          <p:cNvSpPr/>
          <p:nvPr/>
        </p:nvSpPr>
        <p:spPr>
          <a:xfrm>
            <a:off x="493776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02920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54%</a:t>
            </a:r>
            <a:endParaRPr lang="en-US" sz="4200" dirty="0"/>
          </a:p>
        </p:txBody>
      </p:sp>
      <p:sp>
        <p:nvSpPr>
          <p:cNvPr id="12" name="Text 10"/>
          <p:cNvSpPr/>
          <p:nvPr/>
        </p:nvSpPr>
        <p:spPr>
          <a:xfrm>
            <a:off x="502920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of parent carers have been treated by a GP for depression, anxiety, or stress</a:t>
            </a:r>
            <a:endParaRPr lang="en-US" sz="1300" dirty="0"/>
          </a:p>
        </p:txBody>
      </p:sp>
      <p:sp>
        <p:nvSpPr>
          <p:cNvPr id="13" name="Shape 11"/>
          <p:cNvSpPr/>
          <p:nvPr/>
        </p:nvSpPr>
        <p:spPr>
          <a:xfrm>
            <a:off x="7269480" y="1005840"/>
            <a:ext cx="2103120" cy="3291840"/>
          </a:xfrm>
          <a:prstGeom prst="rect">
            <a:avLst/>
          </a:prstGeom>
          <a:solidFill>
            <a:srgbClr val="1E3A5F"/>
          </a:solidFill>
          <a:ln w="12700">
            <a:solidFill>
              <a:srgbClr val="0D7A6F"/>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7360920" y="1188720"/>
            <a:ext cx="1920240" cy="1645920"/>
          </a:xfrm>
          <a:prstGeom prst="rect">
            <a:avLst/>
          </a:prstGeom>
          <a:noFill/>
          <a:ln/>
        </p:spPr>
        <p:txBody>
          <a:bodyPr wrap="square" rtlCol="0" anchor="ctr"/>
          <a:lstStyle/>
          <a:p>
            <a:pPr algn="ctr" indent="0" marL="0">
              <a:buNone/>
            </a:pPr>
            <a:r>
              <a:rPr lang="en-US" sz="4200" b="1" dirty="0">
                <a:solidFill>
                  <a:srgbClr val="E8922A"/>
                </a:solidFill>
                <a:latin typeface="Georgia" pitchFamily="34" charset="0"/>
                <a:ea typeface="Georgia" pitchFamily="34" charset="-122"/>
                <a:cs typeface="Georgia" pitchFamily="34" charset="-120"/>
              </a:rPr>
              <a:t>62%</a:t>
            </a:r>
            <a:endParaRPr lang="en-US" sz="4200" dirty="0"/>
          </a:p>
        </p:txBody>
      </p:sp>
      <p:sp>
        <p:nvSpPr>
          <p:cNvPr id="15" name="Text 13"/>
          <p:cNvSpPr/>
          <p:nvPr/>
        </p:nvSpPr>
        <p:spPr>
          <a:xfrm>
            <a:off x="7360920" y="2834640"/>
            <a:ext cx="1920240" cy="1280160"/>
          </a:xfrm>
          <a:prstGeom prst="rect">
            <a:avLst/>
          </a:prstGeom>
          <a:noFill/>
          <a:ln/>
        </p:spPr>
        <p:txBody>
          <a:bodyPr wrap="square" rtlCol="0" anchor="t"/>
          <a:lstStyle/>
          <a:p>
            <a:pPr algn="ctr" indent="0" marL="0">
              <a:buNone/>
            </a:pPr>
            <a:r>
              <a:rPr lang="en-US" sz="1300" dirty="0">
                <a:solidFill>
                  <a:srgbClr val="C8E6E3"/>
                </a:solidFill>
                <a:latin typeface="Calibri" pitchFamily="34" charset="0"/>
                <a:ea typeface="Calibri" pitchFamily="34" charset="-122"/>
                <a:cs typeface="Calibri" pitchFamily="34" charset="-120"/>
              </a:rPr>
              <a:t>reduced or left work, losing an average of £21,174 per year (Contact 2024)</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1A2B4A"/>
                </a:solidFill>
                <a:latin typeface="Georgia" pitchFamily="34" charset="0"/>
                <a:ea typeface="Georgia" pitchFamily="34" charset="-122"/>
                <a:cs typeface="Georgia" pitchFamily="34" charset="-120"/>
              </a:rPr>
              <a:t>What keeps relationships intact under this pressure</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Shape 3"/>
          <p:cNvSpPr/>
          <p:nvPr/>
        </p:nvSpPr>
        <p:spPr>
          <a:xfrm>
            <a:off x="36576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4864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Shared framework — two people who understand the same things about their child's nervous system</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Common direction, even when tactics differ</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Reducing friction points in daily life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Strategic disengagement from battles that are not worth the cost</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One-to-one time with each child, even brief</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Validation that does not immediately pivot to solutions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Acknowledging the asymmetry rather than resenting it silently</a:t>
            </a:r>
            <a:endParaRPr lang="en-US" sz="1350" dirty="0"/>
          </a:p>
        </p:txBody>
      </p:sp>
      <p:sp>
        <p:nvSpPr>
          <p:cNvPr id="7" name="Shape 5"/>
          <p:cNvSpPr/>
          <p:nvPr/>
        </p:nvSpPr>
        <p:spPr>
          <a:xfrm>
            <a:off x="484632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What does not help</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Generic self-care advice — you cannot meditate out of a broken system</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Being told to prioritise your relationship when there is no bandwidth left</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Professionals who treat the relationship as the problem</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Couples counselling that does not account for the SEND system as the context</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Being told things will get easier without any explanation of how</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Peer support from other families in the same situation is consistently the highest-value form of support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Siblings: the burden that is rarely counted</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Siblings have more responsibilities, more worries, and less parental attention than their peers (Sibs, UK)</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75% of parents reported their sibling child's mental health worsened during the pandemic</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50% of siblings were providing more care during lockdown — children caring for children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Siblings often do not raise their own difficulties to avoid adding to the family's load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Problems that would be caught in another family go unnoticed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Watch for: declining school performance, anger outbursts, social withdrawal</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One-to-one time matters even if it is brief. It does not have to be elaborate.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6</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What Parents Carry</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The weight that is invisible to everyone outside the room</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274320" y="182880"/>
            <a:ext cx="1371600" cy="1371600"/>
          </a:xfrm>
          <a:prstGeom prst="rect">
            <a:avLst/>
          </a:prstGeom>
          <a:noFill/>
          <a:ln/>
        </p:spPr>
        <p:txBody>
          <a:bodyPr wrap="square" rtlCol="0" anchor="ctr"/>
          <a:lstStyle/>
          <a:p>
            <a:pPr algn="l" indent="0" marL="0">
              <a:buNone/>
            </a:pPr>
            <a:r>
              <a:rPr lang="en-US" sz="10000" dirty="0">
                <a:solidFill>
                  <a:srgbClr val="C8E6E3"/>
                </a:solidFill>
                <a:latin typeface="Georgia" pitchFamily="34" charset="0"/>
                <a:ea typeface="Georgia" pitchFamily="34" charset="-122"/>
                <a:cs typeface="Georgia" pitchFamily="34" charset="-120"/>
              </a:rPr>
              <a:t>“</a:t>
            </a:r>
            <a:endParaRPr lang="en-US" sz="10000" dirty="0"/>
          </a:p>
        </p:txBody>
      </p:sp>
      <p:sp>
        <p:nvSpPr>
          <p:cNvPr id="3" name="Text 1"/>
          <p:cNvSpPr/>
          <p:nvPr/>
        </p:nvSpPr>
        <p:spPr>
          <a:xfrm>
            <a:off x="731520" y="822960"/>
            <a:ext cx="7680960" cy="3291840"/>
          </a:xfrm>
          <a:prstGeom prst="rect">
            <a:avLst/>
          </a:prstGeom>
          <a:noFill/>
          <a:ln/>
        </p:spPr>
        <p:txBody>
          <a:bodyPr wrap="square" rtlCol="0" anchor="ctr"/>
          <a:lstStyle/>
          <a:p>
            <a:pPr algn="l" indent="0" marL="0">
              <a:buNone/>
            </a:pPr>
            <a:r>
              <a:rPr lang="en-US" sz="2200" i="1" dirty="0">
                <a:solidFill>
                  <a:srgbClr val="1A2B4A"/>
                </a:solidFill>
                <a:latin typeface="Georgia" pitchFamily="34" charset="0"/>
                <a:ea typeface="Georgia" pitchFamily="34" charset="-122"/>
                <a:cs typeface="Georgia" pitchFamily="34" charset="-120"/>
              </a:rPr>
              <a:t>When it happened to me in 2017 it tore our family apart. That is not hyperbole. It was the worst five years of my life. To have that constant stress and then to not be believed by the school is an additional burden parents simply do not need.</a:t>
            </a:r>
            <a:endParaRPr lang="en-US" sz="2200" dirty="0"/>
          </a:p>
        </p:txBody>
      </p:sp>
      <p:sp>
        <p:nvSpPr>
          <p:cNvPr id="4" name="Shape 2"/>
          <p:cNvSpPr/>
          <p:nvPr/>
        </p:nvSpPr>
        <p:spPr>
          <a:xfrm>
            <a:off x="731520" y="4206240"/>
            <a:ext cx="2286000" cy="54864"/>
          </a:xfrm>
          <a:prstGeom prst="rect">
            <a:avLst/>
          </a:prstGeom>
          <a:solidFill>
            <a:srgbClr val="0D7A6F"/>
          </a:solidFill>
          <a:ln w="12700">
            <a:solidFill>
              <a:srgbClr val="0D7A6F"/>
            </a:solidFill>
            <a:prstDash val="solid"/>
          </a:ln>
        </p:spPr>
      </p:sp>
      <p:sp>
        <p:nvSpPr>
          <p:cNvPr id="5" name="Text 3"/>
          <p:cNvSpPr/>
          <p:nvPr/>
        </p:nvSpPr>
        <p:spPr>
          <a:xfrm>
            <a:off x="731520" y="4297680"/>
            <a:ext cx="7315200" cy="45720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Parent testimony to Parliament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What parents actually worry about at 3am</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Am I the problem? — shame arrives before anything else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Is this my fault genetically? — many parents are themselves unidentified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Will they be OK? — the question underneath every other question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My child is in pain and I cannot fix it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No one believes me — school sees coping, I see crisis. Both are true.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fighting is destroying me — and I cannot stop fighting</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My relationship is not surviving this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My other children are paying for this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Secondary school terrifies me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 am scared of what my child might do to themselves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What you actually need — not what you are usually given</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Validation that it is genuinely as hard as you think it is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Someone who does not require you to justify why this is difficult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Practical information — what you are entitled to, what language to use, what to ask for</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Permission to disengage from battles that are not worth the cost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 peer group of people who already understand without explanation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Recognition that the system is failing your child, not that you are failing them</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Honest information about risk — not reassurance that removes your ability to prepare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7A6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1300" b="1" spc="400" kern="0" dirty="0">
                <a:solidFill>
                  <a:srgbClr val="C8E6E3"/>
                </a:solidFill>
                <a:latin typeface="Calibri" pitchFamily="34" charset="0"/>
                <a:ea typeface="Calibri" pitchFamily="34" charset="-122"/>
                <a:cs typeface="Calibri" pitchFamily="34" charset="-120"/>
              </a:rPr>
              <a:t>SECTION 7</a:t>
            </a:r>
            <a:endParaRPr lang="en-US" sz="1300" dirty="0"/>
          </a:p>
        </p:txBody>
      </p:sp>
      <p:sp>
        <p:nvSpPr>
          <p:cNvPr id="4" name="Text 2"/>
          <p:cNvSpPr/>
          <p:nvPr/>
        </p:nvSpPr>
        <p:spPr>
          <a:xfrm>
            <a:off x="457200" y="1371600"/>
            <a:ext cx="8229600" cy="137160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What Actually Helps</a:t>
            </a:r>
            <a:endParaRPr lang="en-US" sz="3600" dirty="0"/>
          </a:p>
        </p:txBody>
      </p:sp>
      <p:sp>
        <p:nvSpPr>
          <p:cNvPr id="5" name="Text 3"/>
          <p:cNvSpPr/>
          <p:nvPr/>
        </p:nvSpPr>
        <p:spPr>
          <a:xfrm>
            <a:off x="457200" y="2926080"/>
            <a:ext cx="7772400" cy="914400"/>
          </a:xfrm>
          <a:prstGeom prst="rect">
            <a:avLst/>
          </a:prstGeom>
          <a:noFill/>
          <a:ln/>
        </p:spPr>
        <p:txBody>
          <a:bodyPr wrap="square" rtlCol="0" anchor="ctr"/>
          <a:lstStyle/>
          <a:p>
            <a:pPr algn="l" indent="0" marL="0">
              <a:buNone/>
            </a:pPr>
            <a:r>
              <a:rPr lang="en-US" sz="1600" dirty="0">
                <a:solidFill>
                  <a:srgbClr val="FAF8F5"/>
                </a:solidFill>
                <a:latin typeface="Calibri" pitchFamily="34" charset="0"/>
                <a:ea typeface="Calibri" pitchFamily="34" charset="-122"/>
                <a:cs typeface="Calibri" pitchFamily="34" charset="-120"/>
              </a:rPr>
              <a:t>Practical, evidence-informed, and honest about what it takes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indent="0" marL="0">
              <a:buNone/>
            </a:pPr>
            <a:r>
              <a:rPr lang="en-US" sz="2200" b="1" dirty="0">
                <a:solidFill>
                  <a:srgbClr val="1A2B4A"/>
                </a:solidFill>
                <a:latin typeface="Georgia" pitchFamily="34" charset="0"/>
                <a:ea typeface="Georgia" pitchFamily="34" charset="-122"/>
                <a:cs typeface="Georgia" pitchFamily="34" charset="-120"/>
              </a:rPr>
              <a:t>Tools that work: regulation and daily life</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Shape 3"/>
          <p:cNvSpPr/>
          <p:nvPr/>
        </p:nvSpPr>
        <p:spPr>
          <a:xfrm>
            <a:off x="36576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4864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Routine as safety — visual timetables, now/next boards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Countdown timers — 5 minutes warning, not 1</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Low demand mornings — reduce decisions before school</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Decompression time built in after school — non-negotiable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Calm corner at home with sensory tools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Movement before demands — not after</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Connection before correction after a difficult episode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Repair after rupture — every time</a:t>
            </a:r>
            <a:endParaRPr lang="en-US" sz="1350" dirty="0"/>
          </a:p>
        </p:txBody>
      </p:sp>
      <p:sp>
        <p:nvSpPr>
          <p:cNvPr id="7" name="Shape 5"/>
          <p:cNvSpPr/>
          <p:nvPr/>
        </p:nvSpPr>
        <p:spPr>
          <a:xfrm>
            <a:off x="4846320" y="1005840"/>
            <a:ext cx="3931920" cy="3749040"/>
          </a:xfrm>
          <a:prstGeom prst="rect">
            <a:avLst/>
          </a:prstGeom>
          <a:solidFill>
            <a:srgbClr val="FFFFFF"/>
          </a:solidFill>
          <a:ln w="12700">
            <a:solidFill>
              <a:srgbClr val="C8E6E3"/>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0" y="1143000"/>
            <a:ext cx="3566160" cy="3474720"/>
          </a:xfrm>
          <a:prstGeom prst="rect">
            <a:avLst/>
          </a:prstGeom>
          <a:noFill/>
          <a:ln/>
        </p:spPr>
        <p:txBody>
          <a:bodyPr wrap="square" rtlCol="0" anchor="ctr"/>
          <a:lstStyle/>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Communication that works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Short instructions. One step at a time.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Side-by-side activities for difficult conversations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Declarative language: 'I notice shoes are still by the door'</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Remove urgency language wherever possible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Wait for regulation before attempting to resolve</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Never correct in front of others</a:t>
            </a:r>
            <a:endParaRPr lang="en-US" sz="1350" dirty="0"/>
          </a:p>
          <a:p>
            <a:pPr marL="342900" indent="-342900">
              <a:spcAft>
                <a:spcPts val="500"/>
              </a:spcAft>
              <a:buSzPct val="100000"/>
              <a:buChar char="•"/>
            </a:pPr>
            <a:r>
              <a:rPr lang="en-US" sz="1350" dirty="0">
                <a:solidFill>
                  <a:srgbClr val="4A5568"/>
                </a:solidFill>
                <a:latin typeface="Calibri" pitchFamily="34" charset="0"/>
                <a:ea typeface="Calibri" pitchFamily="34" charset="-122"/>
                <a:cs typeface="Calibri" pitchFamily="34" charset="-120"/>
              </a:rPr>
              <a:t>Name feelings before trying to fix them</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Navigating school: what to do and what to say</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Keep a written log — dates, observations, communications, incidents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Follow up every verbal conversation with an email the same day</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Ask for everything in writing</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Use the word 'provision' not 'support' — it is a legal term</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Request meetings rather than waiting for annual reviews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Schools must respond to need, not diagnosis — the Code of Practice requires assess, plan, do, review</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Reasonable adjustments under the Equality Act apply from point of need</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Ask: can you show me the provision plan while we wait for assessment?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7A6F"/>
        </a:solidFill>
      </p:bgPr>
    </p:bg>
    <p:spTree>
      <p:nvGrpSpPr>
        <p:cNvPr id="1" name=""/>
        <p:cNvGrpSpPr/>
        <p:nvPr/>
      </p:nvGrpSpPr>
      <p:grpSpPr>
        <a:xfrm>
          <a:off x="0" y="0"/>
          <a:ext cx="0" cy="0"/>
          <a:chOff x="0" y="0"/>
          <a:chExt cx="0" cy="0"/>
        </a:xfrm>
      </p:grpSpPr>
      <p:sp>
        <p:nvSpPr>
          <p:cNvPr id="2" name="Text 0"/>
          <p:cNvSpPr/>
          <p:nvPr/>
        </p:nvSpPr>
        <p:spPr>
          <a:xfrm>
            <a:off x="731520" y="1097280"/>
            <a:ext cx="7680960" cy="2194560"/>
          </a:xfrm>
          <a:prstGeom prst="rect">
            <a:avLst/>
          </a:prstGeom>
          <a:noFill/>
          <a:ln/>
        </p:spPr>
        <p:txBody>
          <a:bodyPr wrap="square" rtlCol="0" anchor="ctr"/>
          <a:lstStyle/>
          <a:p>
            <a:pPr algn="ctr" indent="0" marL="0">
              <a:buNone/>
            </a:pPr>
            <a:r>
              <a:rPr lang="en-US" sz="2800" b="1" i="1" dirty="0">
                <a:solidFill>
                  <a:srgbClr val="FFFFFF"/>
                </a:solidFill>
                <a:latin typeface="Georgia" pitchFamily="34" charset="0"/>
                <a:ea typeface="Georgia" pitchFamily="34" charset="-122"/>
                <a:cs typeface="Georgia" pitchFamily="34" charset="-120"/>
              </a:rPr>
              <a:t>A child who knows who they are.</a:t>
            </a:r>
            <a:endParaRPr lang="en-US" sz="2800" dirty="0"/>
          </a:p>
          <a:p>
            <a:pPr algn="ctr" indent="0" marL="0">
              <a:buNone/>
            </a:pPr>
            <a:r>
              <a:rPr lang="en-US" sz="2800" b="1" i="1" dirty="0">
                <a:solidFill>
                  <a:srgbClr val="FFFFFF"/>
                </a:solidFill>
                <a:latin typeface="Georgia" pitchFamily="34" charset="0"/>
                <a:ea typeface="Georgia" pitchFamily="34" charset="-122"/>
                <a:cs typeface="Georgia" pitchFamily="34" charset="-120"/>
              </a:rPr>
              <a:t>One person who believes them.</a:t>
            </a:r>
            <a:endParaRPr lang="en-US" sz="2800" dirty="0"/>
          </a:p>
          <a:p>
            <a:pPr algn="ctr" indent="0" marL="0">
              <a:buNone/>
            </a:pPr>
            <a:r>
              <a:rPr lang="en-US" sz="2800" b="1" i="1" dirty="0">
                <a:solidFill>
                  <a:srgbClr val="FFFFFF"/>
                </a:solidFill>
                <a:latin typeface="Georgia" pitchFamily="34" charset="0"/>
                <a:ea typeface="Georgia" pitchFamily="34" charset="-122"/>
                <a:cs typeface="Georgia" pitchFamily="34" charset="-120"/>
              </a:rPr>
              <a:t>Enough of the world to build a life.</a:t>
            </a:r>
            <a:endParaRPr lang="en-US" sz="2800" dirty="0"/>
          </a:p>
        </p:txBody>
      </p:sp>
      <p:sp>
        <p:nvSpPr>
          <p:cNvPr id="3" name="Shape 1"/>
          <p:cNvSpPr/>
          <p:nvPr/>
        </p:nvSpPr>
        <p:spPr>
          <a:xfrm>
            <a:off x="3200400" y="3474720"/>
            <a:ext cx="2743200" cy="45720"/>
          </a:xfrm>
          <a:prstGeom prst="rect">
            <a:avLst/>
          </a:prstGeom>
          <a:solidFill>
            <a:srgbClr val="C8E6E3"/>
          </a:solidFill>
          <a:ln w="12700">
            <a:solidFill>
              <a:srgbClr val="C8E6E3"/>
            </a:solidFill>
            <a:prstDash val="solid"/>
          </a:ln>
        </p:spPr>
      </p:sp>
      <p:sp>
        <p:nvSpPr>
          <p:cNvPr id="4" name="Text 2"/>
          <p:cNvSpPr/>
          <p:nvPr/>
        </p:nvSpPr>
        <p:spPr>
          <a:xfrm>
            <a:off x="731520" y="3611880"/>
            <a:ext cx="7680960" cy="731520"/>
          </a:xfrm>
          <a:prstGeom prst="rect">
            <a:avLst/>
          </a:prstGeom>
          <a:noFill/>
          <a:ln/>
        </p:spPr>
        <p:txBody>
          <a:bodyPr wrap="square" rtlCol="0" anchor="ctr"/>
          <a:lstStyle/>
          <a:p>
            <a:pPr algn="ctr" indent="0" marL="0">
              <a:buNone/>
            </a:pPr>
            <a:r>
              <a:rPr lang="en-US" sz="1400" dirty="0">
                <a:solidFill>
                  <a:srgbClr val="FAF8F5"/>
                </a:solidFill>
                <a:latin typeface="Calibri" pitchFamily="34" charset="0"/>
                <a:ea typeface="Calibri" pitchFamily="34" charset="-122"/>
                <a:cs typeface="Calibri" pitchFamily="34" charset="-120"/>
              </a:rPr>
              <a:t>That is achievable. That is worth fighting for.</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w="12700">
            <a:solidFill>
              <a:srgbClr val="0D7A6F"/>
            </a:solidFill>
            <a:prstDash val="solid"/>
          </a:ln>
        </p:spPr>
      </p:sp>
      <p:sp>
        <p:nvSpPr>
          <p:cNvPr id="3" name="Text 1"/>
          <p:cNvSpPr/>
          <p:nvPr/>
        </p:nvSpPr>
        <p:spPr>
          <a:xfrm>
            <a:off x="457200" y="201168"/>
            <a:ext cx="8229600" cy="640080"/>
          </a:xfrm>
          <a:prstGeom prst="rect">
            <a:avLst/>
          </a:prstGeom>
          <a:noFill/>
          <a:ln/>
        </p:spPr>
        <p:txBody>
          <a:bodyPr wrap="square" rtlCol="0" anchor="ctr"/>
          <a:lstStyle/>
          <a:p>
            <a:pPr algn="l" indent="0" marL="0">
              <a:buNone/>
            </a:pPr>
            <a:r>
              <a:rPr lang="en-US" sz="2200" b="1" dirty="0">
                <a:solidFill>
                  <a:srgbClr val="1A2B4A"/>
                </a:solidFill>
                <a:latin typeface="Georgia" pitchFamily="34" charset="0"/>
                <a:ea typeface="Georgia" pitchFamily="34" charset="-122"/>
                <a:cs typeface="Georgia" pitchFamily="34" charset="-120"/>
              </a:rPr>
              <a:t>The 2026 SEND reforms — what parents need to know</a:t>
            </a:r>
            <a:endParaRPr lang="en-US" sz="2200" dirty="0"/>
          </a:p>
        </p:txBody>
      </p:sp>
      <p:sp>
        <p:nvSpPr>
          <p:cNvPr id="4" name="Shape 2"/>
          <p:cNvSpPr/>
          <p:nvPr/>
        </p:nvSpPr>
        <p:spPr>
          <a:xfrm>
            <a:off x="457200" y="877824"/>
            <a:ext cx="8229600" cy="22860"/>
          </a:xfrm>
          <a:prstGeom prst="rect">
            <a:avLst/>
          </a:prstGeom>
          <a:solidFill>
            <a:srgbClr val="C8E6E3"/>
          </a:solidFill>
          <a:ln w="12700">
            <a:solidFill>
              <a:srgbClr val="C8E6E3"/>
            </a:solidFill>
            <a:prstDash val="solid"/>
          </a:ln>
        </p:spPr>
      </p:sp>
      <p:sp>
        <p:nvSpPr>
          <p:cNvPr id="5" name="Text 3"/>
          <p:cNvSpPr/>
          <p:nvPr/>
        </p:nvSpPr>
        <p:spPr>
          <a:xfrm>
            <a:off x="457200" y="1005840"/>
            <a:ext cx="8229600" cy="3749040"/>
          </a:xfrm>
          <a:prstGeom prst="rect">
            <a:avLst/>
          </a:prstGeom>
          <a:noFill/>
          <a:ln/>
        </p:spPr>
        <p:txBody>
          <a:bodyPr wrap="square" rtlCol="0" anchor="ctr"/>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The white paper 'Every Child Achieving and Thriving' was published February 2026</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Consultation closes 18 May 2026 — this is your opportunity to influence what happens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ISPs (Individual Support Plans) replace SEN support for most children — not EHCPs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ISP complaints go to the school complaints process, not tribunal. This is a rights reduction.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Children with EHCPs in Year 3 and above keep them until 16. Year 2 and below reassessed at Year 7.</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Every child with a special school place in 2029 keeps it if they want it.</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Respond online, by email to SEND.REFORM@education.gov.uk, or by post to DfE, Sanctuary Buildings, London SW1P 3BT</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6F"/>
          </a:solidFill>
          <a:ln w="12700">
            <a:solidFill>
              <a:srgbClr val="0D7A6F"/>
            </a:solidFill>
            <a:prstDash val="solid"/>
          </a:ln>
        </p:spPr>
      </p:sp>
      <p:sp>
        <p:nvSpPr>
          <p:cNvPr id="3" name="Text 1"/>
          <p:cNvSpPr/>
          <p:nvPr/>
        </p:nvSpPr>
        <p:spPr>
          <a:xfrm>
            <a:off x="411480" y="640080"/>
            <a:ext cx="8321040" cy="6858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Before you leave this room</a:t>
            </a:r>
            <a:endParaRPr lang="en-US" sz="2600" dirty="0"/>
          </a:p>
        </p:txBody>
      </p:sp>
      <p:sp>
        <p:nvSpPr>
          <p:cNvPr id="4" name="Text 2"/>
          <p:cNvSpPr/>
          <p:nvPr/>
        </p:nvSpPr>
        <p:spPr>
          <a:xfrm>
            <a:off x="411480" y="1463040"/>
            <a:ext cx="8321040" cy="3108960"/>
          </a:xfrm>
          <a:prstGeom prst="rect">
            <a:avLst/>
          </a:prstGeom>
          <a:noFill/>
          <a:ln/>
        </p:spPr>
        <p:txBody>
          <a:bodyPr wrap="square" rtlCol="0" anchor="ctr"/>
          <a:lstStyle/>
          <a:p>
            <a:pPr marL="342900" indent="-342900">
              <a:spcAft>
                <a:spcPts val="800"/>
              </a:spcAft>
              <a:buSzPct val="100000"/>
              <a:buChar char="•"/>
            </a:pPr>
            <a:r>
              <a:rPr lang="en-US" sz="1500" dirty="0">
                <a:solidFill>
                  <a:srgbClr val="C8E6E3"/>
                </a:solidFill>
              </a:rPr>
              <a:t>This is genuinely as hard as you think it is. You are not being dramatic.</a:t>
            </a:r>
            <a:endParaRPr lang="en-US" sz="1500" dirty="0"/>
          </a:p>
          <a:p>
            <a:pPr marL="342900" indent="-342900">
              <a:spcAft>
                <a:spcPts val="800"/>
              </a:spcAft>
              <a:buSzPct val="100000"/>
              <a:buChar char="•"/>
            </a:pPr>
            <a:r>
              <a:rPr lang="en-US" sz="1500" dirty="0">
                <a:solidFill>
                  <a:srgbClr val="FFFFFF"/>
                </a:solidFill>
              </a:rPr>
              <a:t>The system is failing your child. You are not failing them.</a:t>
            </a:r>
            <a:endParaRPr lang="en-US" sz="1500" dirty="0"/>
          </a:p>
          <a:p>
            <a:pPr marL="342900" indent="-342900">
              <a:spcAft>
                <a:spcPts val="800"/>
              </a:spcAft>
              <a:buSzPct val="100000"/>
              <a:buChar char="•"/>
            </a:pPr>
            <a:r>
              <a:rPr lang="en-US" sz="1500" dirty="0">
                <a:solidFill>
                  <a:srgbClr val="C8E6E3"/>
                </a:solidFill>
              </a:rPr>
              <a:t>Your child is not the problem. The mismatch is the problem.</a:t>
            </a:r>
            <a:endParaRPr lang="en-US" sz="1500" dirty="0"/>
          </a:p>
          <a:p>
            <a:pPr marL="342900" indent="-342900">
              <a:spcAft>
                <a:spcPts val="800"/>
              </a:spcAft>
              <a:buSzPct val="100000"/>
              <a:buChar char="•"/>
            </a:pPr>
            <a:r>
              <a:rPr lang="en-US" sz="1500" dirty="0">
                <a:solidFill>
                  <a:srgbClr val="FFFFFF"/>
                </a:solidFill>
              </a:rPr>
              <a:t>One person who understands them changes their trajectory.</a:t>
            </a:r>
            <a:endParaRPr lang="en-US" sz="1500" dirty="0"/>
          </a:p>
          <a:p>
            <a:pPr marL="342900" indent="-342900">
              <a:buSzPct val="100000"/>
              <a:buChar char="•"/>
            </a:pPr>
            <a:r>
              <a:rPr lang="en-US" sz="1500" b="1" dirty="0">
                <a:solidFill>
                  <a:srgbClr val="E8922A"/>
                </a:solidFill>
              </a:rPr>
              <a:t>That person is already in this room.</a:t>
            </a:r>
            <a:endParaRPr lang="en-US" sz="1500" dirty="0"/>
          </a:p>
        </p:txBody>
      </p:sp>
      <p:sp>
        <p:nvSpPr>
          <p:cNvPr id="5" name="Text 3"/>
          <p:cNvSpPr/>
          <p:nvPr/>
        </p:nvSpPr>
        <p:spPr>
          <a:xfrm>
            <a:off x="411480" y="4663440"/>
            <a:ext cx="8321040" cy="320040"/>
          </a:xfrm>
          <a:prstGeom prst="rect">
            <a:avLst/>
          </a:prstGeom>
          <a:noFill/>
          <a:ln/>
        </p:spPr>
        <p:txBody>
          <a:bodyPr wrap="square" rtlCol="0" anchor="ctr"/>
          <a:lstStyle/>
          <a:p>
            <a:pPr indent="0" marL="0">
              <a:buNone/>
            </a:pPr>
            <a:r>
              <a:rPr lang="en-US" sz="1100" dirty="0">
                <a:solidFill>
                  <a:srgbClr val="8A9BAB"/>
                </a:solidFill>
                <a:latin typeface="Calibri" pitchFamily="34" charset="0"/>
                <a:ea typeface="Calibri" pitchFamily="34" charset="-122"/>
                <a:cs typeface="Calibri" pitchFamily="34" charset="-120"/>
              </a:rPr>
              <a:t>send.neurodiversityglobal.com  |  Rich Ferriman, Neurodiversity Global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Your Neurodivergent Child</dc:title>
  <dc:subject>PptxGenJS Presentation</dc:subject>
  <dc:creator>PptxGenJS</dc:creator>
  <cp:lastModifiedBy>PptxGenJS</cp:lastModifiedBy>
  <cp:revision>1</cp:revision>
  <dcterms:created xsi:type="dcterms:W3CDTF">2026-03-08T20:18:25Z</dcterms:created>
  <dcterms:modified xsi:type="dcterms:W3CDTF">2026-03-08T20:18:25Z</dcterms:modified>
</cp:coreProperties>
</file>